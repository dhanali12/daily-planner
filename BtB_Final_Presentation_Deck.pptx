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36576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Strategic Governance Cadence Flow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Shifting organizational speed from a direct bottlenecked relay to a routed network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Tier 1: Strategic Board</a:t>
            </a:r>
          </a:p>
          <a:p>
            <a:pPr>
              <a:spcAft>
                <a:spcPts val="1400"/>
              </a:spcAft>
              <a:defRPr sz="1100" b="1">
                <a:solidFill>
                  <a:srgbClr val="EA580C"/>
                </a:solidFill>
              </a:defRPr>
            </a:pPr>
            <a:r>
              <a:t>BI-WEEKLY  |  60 MINS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Aligns long-term corporate vision with investor network targets.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Manages capital tracking for EIC Accelerator grant guidelines.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Secures milestones required for final investment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Tier 2: Operational Steering</a:t>
            </a:r>
          </a:p>
          <a:p>
            <a:pPr>
              <a:spcAft>
                <a:spcPts val="1400"/>
              </a:spcAft>
              <a:defRPr sz="1100" b="1">
                <a:solidFill>
                  <a:srgbClr val="EA580C"/>
                </a:solidFill>
              </a:defRPr>
            </a:pPr>
            <a:r>
              <a:t>WEEKLY  |  45 MINS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Links progress loops between commercial and plant teams.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Tracks lab production logs, extraction purity, and feedstock mix.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Monitors commercial pipelines, LOI conversions, and off-take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Tier 3: Agile Sprints</a:t>
            </a:r>
          </a:p>
          <a:p>
            <a:pPr>
              <a:spcAft>
                <a:spcPts val="1400"/>
              </a:spcAft>
              <a:defRPr sz="1100" b="1">
                <a:solidFill>
                  <a:srgbClr val="EA580C"/>
                </a:solidFill>
              </a:defRPr>
            </a:pPr>
            <a:r>
              <a:t>DAILY  |  15 MINS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Maintains high execution velocity within deep-tech lab boundaries.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Unlocks direct chemical/engineering bench troubleshooting.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Logs rapid documentation and mitigates individual team blockers.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Back to Battery  |  Scale-Up Governance Strategy Report                                                                                 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36576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Autonomous Decision Rights Architecture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Codifying process boundaries and financial thresholds to eliminate operational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4114800" cy="3840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0" b="1">
                <a:solidFill>
                  <a:srgbClr val="EA580C"/>
                </a:solidFill>
              </a:defRPr>
            </a:pPr>
            <a:r>
              <a:t>€500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FINANCIAL AUTONOMY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011680"/>
            <a:ext cx="6126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F172A"/>
                </a:solidFill>
              </a:defRPr>
            </a:pPr>
            <a:r>
              <a:t>Decentralized Operational Routing</a:t>
            </a:r>
          </a:p>
          <a:p>
            <a:pPr>
              <a:spcAft>
                <a:spcPts val="1200"/>
              </a:spcAft>
              <a:defRPr sz="1300">
                <a:solidFill>
                  <a:srgbClr val="64748B"/>
                </a:solidFill>
              </a:defRPr>
            </a:pPr>
            <a:r>
              <a:t>→ Below €500 Path: Domain leads (Commercial, Innovation, Plant Engineering) execute adjustments, purchase reagents, and modify local testing setups instantly without review.</a:t>
            </a:r>
          </a:p>
          <a:p>
            <a:pPr>
              <a:spcAft>
                <a:spcPts val="1200"/>
              </a:spcAft>
              <a:defRPr sz="1300">
                <a:solidFill>
                  <a:srgbClr val="64748B"/>
                </a:solidFill>
              </a:defRPr>
            </a:pPr>
            <a:r>
              <a:t>→ Above €500 Path: Financial request is systematically routed to Tier 2 (Steering Committee) for rapid verification against current capital runway and allocation constraints.</a:t>
            </a:r>
          </a:p>
          <a:p>
            <a:pPr>
              <a:spcAft>
                <a:spcPts val="1200"/>
              </a:spcAft>
              <a:defRPr sz="1300">
                <a:solidFill>
                  <a:srgbClr val="64748B"/>
                </a:solidFill>
              </a:defRPr>
            </a:pPr>
            <a:r>
              <a:t>→ Strategic Impact: Removes operational validation dependencies on corporate leadership, allowing core focus on securing external Series A financing rounds.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Back to Battery  |  Scale-Up Governance Strategy Report                                                                                 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36576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Industrial Scale-Up Benchmarking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Applying structural operational models from established clean-tech champions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Automotive Cells Co. (ACC)</a:t>
            </a:r>
          </a:p>
          <a:p>
            <a:pPr>
              <a:spcAft>
                <a:spcPts val="1600"/>
              </a:spcAft>
              <a:defRPr sz="1100" b="1">
                <a:solidFill>
                  <a:srgbClr val="EA580C"/>
                </a:solidFill>
              </a:defRPr>
            </a:pPr>
            <a:r>
              <a:t>DEEP-TECH / GIGAFACTORY BLUEPRINT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Lane Decoupling: Strategic steering blocks focus exclusively on financing and target rules, keeping execution loops isolated.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Meeting Discipline: Fixed 45-minute update meetings with mandatory logging of action targets within 10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Stena Recycling</a:t>
            </a:r>
          </a:p>
          <a:p>
            <a:pPr>
              <a:spcAft>
                <a:spcPts val="1600"/>
              </a:spcAft>
              <a:defRPr sz="1100" b="1">
                <a:solidFill>
                  <a:srgbClr val="EA580C"/>
                </a:solidFill>
              </a:defRPr>
            </a:pPr>
            <a:r>
              <a:t>CIRCULAR SUPPLY CHAIN STANDARDS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Decentralized Operations: Grants clear, localized operational autonomy across individual processing sites.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System Reliance: Eradicates reliance on unrecorded conversations by moving all progress logs to digital frameworks.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Back to Battery  |  Scale-Up Governance Strategy Report                                                                                 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36576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Rigorous Governance Gap Analysis Matrix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Strategic alignment utilizing the McKinsey 7S Framework to prepare for Series A compliance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834640"/>
              </a:tblGrid>
              <a:tr h="76809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A580C"/>
                          </a:solidFill>
                        </a:defRPr>
                      </a:pPr>
                      <a:r>
                        <a:t>McKinsey 7S Pillar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A580C"/>
                          </a:solidFill>
                        </a:defRPr>
                      </a:pPr>
                      <a:r>
                        <a:t>Industrial Scale Benchmark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A580C"/>
                          </a:solidFill>
                        </a:defRPr>
                      </a:pPr>
                      <a:r>
                        <a:t>BtB Baseline (With Commercial)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A580C"/>
                          </a:solidFill>
                        </a:defRPr>
                      </a:pPr>
                      <a:r>
                        <a:t>Scale-Up Transformational 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Structure &amp; Roles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Decoupled governance; independent commercial development and engineering execution lanes.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Commercial Director active on LOIs, but exact execution boundaries remain uncodified.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Codify RACI Profiles: Build clear boundary logs and formalize functional authorization zones.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Systems &amp; Cadence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Automated process logging; locked, time-boxed weekly board rhythms.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Centralized tracking; high reliance on unrecorded check-ins and verbal updates.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Launch 3-Tier Rhythms: Replace informal chats with structured, fixed weekly SteerCo blocks.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Skills &amp;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Institutionalized knowledge; blueprints and flowsheets secured in shared data rooms.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Concentrated knowledge assets; core processing and market insights sit inside individual memories.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De-risk Key Personnel: Systematically export individual expertise into protected shared cloud archives.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Shared Values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Data-driven velocity metrics; unified, audited financial models prepared for due diligence.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Trust-focused team agility; financial forecasts and sheets updated manually across disjointed tools.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Lock Master DCF Model: Connect model linkages to build a single data room reference source for VCs.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Back to Battery  |  Scale-Up Governance Strategy Report                                                                                 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36576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Phased Digital Tooling Ecosystem Roadmap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Structuring internal communication platforms to match growth and capital influx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1: Clear Tracking</a:t>
            </a:r>
          </a:p>
          <a:p>
            <a:pPr>
              <a:spcAft>
                <a:spcPts val="600"/>
              </a:spcAft>
              <a:defRPr sz="1000" b="1">
                <a:solidFill>
                  <a:srgbClr val="EA580C"/>
                </a:solidFill>
              </a:defRPr>
            </a:pPr>
            <a:r>
              <a:t>IMMEDIATE FOCUS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Deploy Asana &amp; Notion immediately. Eliminates verbal task loop tracking; sets formal ownership and builds a centralized organizational knowledge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931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4023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2: Async Dynamics</a:t>
            </a:r>
          </a:p>
          <a:p>
            <a:pPr>
              <a:spcAft>
                <a:spcPts val="600"/>
              </a:spcAft>
              <a:defRPr sz="1000" b="1">
                <a:solidFill>
                  <a:srgbClr val="EA580C"/>
                </a:solidFill>
              </a:defRPr>
            </a:pPr>
            <a:r>
              <a:t>PRE-FUNDING STAGE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Integrate Slack &amp; Miro. Safeguards engineering hours by moving brief status syncs and process workflows out of long physical team meetings.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3: Repository Rigor</a:t>
            </a:r>
          </a:p>
          <a:p>
            <a:pPr>
              <a:spcAft>
                <a:spcPts val="600"/>
              </a:spcAft>
              <a:defRPr sz="1000" b="1">
                <a:solidFill>
                  <a:srgbClr val="EA580C"/>
                </a:solidFill>
              </a:defRPr>
            </a:pPr>
            <a:r>
              <a:t>POST €1.5M SEED ROUND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Migrate to Jira &amp; Confluence. Establishes auditable engineering ticket structures, change records, and master chemical flowsheet versions.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931920"/>
            <a:ext cx="25603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023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4: Compliance Rooms</a:t>
            </a:r>
          </a:p>
          <a:p>
            <a:pPr>
              <a:spcAft>
                <a:spcPts val="600"/>
              </a:spcAft>
              <a:defRPr sz="1000" b="1">
                <a:solidFill>
                  <a:srgbClr val="EA580C"/>
                </a:solidFill>
              </a:defRPr>
            </a:pPr>
            <a:r>
              <a:t>POST €15M SERIES A ROUND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Lock SharePoint Enterprise Security. Implements advanced data protection policies and strict access control rules for VC due-diligence.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Back to Battery  |  Scale-Up Governance Strategy Report                                                                                 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